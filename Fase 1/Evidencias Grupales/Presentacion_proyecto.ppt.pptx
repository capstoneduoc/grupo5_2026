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jXSLGf1UfLOcMQ+gXGZKlUv6gP6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A2B4E79-9257-44C7-BDB5-FC017AA9E69C}">
  <a:tblStyle styleId="{1A2B4E79-9257-44C7-BDB5-FC017AA9E69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AD50B0CC-083F-4C02-85E5-948365EB69EC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fa47f9f203_4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fa47f9f203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407886" y="1398133"/>
            <a:ext cx="9144000" cy="1620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Presentación Portafolio </a:t>
            </a:r>
            <a:r>
              <a:rPr lang="es-CL"/>
              <a:t>Título</a:t>
            </a:r>
            <a:br>
              <a:rPr lang="es-CL"/>
            </a:br>
            <a:r>
              <a:rPr lang="es-CL" sz="3200"/>
              <a:t>“MORI”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562999"/>
            <a:ext cx="9144000" cy="1620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CL" sz="3200"/>
              <a:t>Ingeniería Informática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Escuela de Informática y Telecomunicaciones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Sede Puente Alto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2026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/>
        </p:nvSpPr>
        <p:spPr>
          <a:xfrm>
            <a:off x="555827" y="2315666"/>
            <a:ext cx="2993823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1" name="Google Shape;91;p2"/>
          <p:cNvGrpSpPr/>
          <p:nvPr/>
        </p:nvGrpSpPr>
        <p:grpSpPr>
          <a:xfrm>
            <a:off x="4082926" y="1382434"/>
            <a:ext cx="6781017" cy="4590224"/>
            <a:chOff x="0" y="0"/>
            <a:chExt cx="6781017" cy="4590224"/>
          </a:xfrm>
        </p:grpSpPr>
        <p:sp>
          <p:nvSpPr>
            <p:cNvPr id="92" name="Google Shape;92;p2"/>
            <p:cNvSpPr/>
            <p:nvPr/>
          </p:nvSpPr>
          <p:spPr>
            <a:xfrm>
              <a:off x="0" y="0"/>
              <a:ext cx="6781017" cy="1067494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D7FC9"/>
                </a:gs>
                <a:gs pos="50000">
                  <a:srgbClr val="3A6EC9"/>
                </a:gs>
                <a:gs pos="100000">
                  <a:srgbClr val="2C5EB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2"/>
            <p:cNvSpPr txBox="1"/>
            <p:nvPr/>
          </p:nvSpPr>
          <p:spPr>
            <a:xfrm>
              <a:off x="1462952" y="0"/>
              <a:ext cx="5318064" cy="10674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lang="es-CL" sz="2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Dreyco Roman</a:t>
              </a:r>
              <a:endParaRPr b="0" i="0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JEFE / Diseñador</a:t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Organizar y diseñar la web y documentación</a:t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106749" y="106749"/>
              <a:ext cx="1356203" cy="853995"/>
            </a:xfrm>
            <a:prstGeom prst="roundRect">
              <a:avLst>
                <a:gd fmla="val 10000" name="adj"/>
              </a:avLst>
            </a:prstGeom>
            <a:solidFill>
              <a:srgbClr val="BCC5E4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/>
                <a:t>LOTUS</a:t>
              </a: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0" y="1174243"/>
              <a:ext cx="6781017" cy="1067494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D7FC9"/>
                </a:gs>
                <a:gs pos="50000">
                  <a:srgbClr val="3A6EC9"/>
                </a:gs>
                <a:gs pos="100000">
                  <a:srgbClr val="2C5EB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2"/>
            <p:cNvSpPr txBox="1"/>
            <p:nvPr/>
          </p:nvSpPr>
          <p:spPr>
            <a:xfrm>
              <a:off x="1462952" y="1174243"/>
              <a:ext cx="5318064" cy="10674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lang="es-CL" sz="2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Benjamín Concha</a:t>
              </a:r>
              <a:endParaRPr b="0" i="0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Analista Programador</a:t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b="0" i="0" lang="es-CL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desempeñadas</a:t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06749" y="1280992"/>
              <a:ext cx="1356203" cy="853995"/>
            </a:xfrm>
            <a:prstGeom prst="roundRect">
              <a:avLst>
                <a:gd fmla="val 10000" name="adj"/>
              </a:avLst>
            </a:prstGeom>
            <a:solidFill>
              <a:srgbClr val="BCC5E4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0" y="2348487"/>
              <a:ext cx="6781017" cy="1067494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D7FC9"/>
                </a:gs>
                <a:gs pos="50000">
                  <a:srgbClr val="3A6EC9"/>
                </a:gs>
                <a:gs pos="100000">
                  <a:srgbClr val="2C5EB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2"/>
            <p:cNvSpPr txBox="1"/>
            <p:nvPr/>
          </p:nvSpPr>
          <p:spPr>
            <a:xfrm>
              <a:off x="1462952" y="2348487"/>
              <a:ext cx="5318064" cy="10674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lang="es-CL" sz="2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Victoria Bahamondes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QA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b="0" i="0" lang="es-CL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desempeñadas</a:t>
              </a: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06749" y="2455236"/>
              <a:ext cx="1356203" cy="853995"/>
            </a:xfrm>
            <a:prstGeom prst="roundRect">
              <a:avLst>
                <a:gd fmla="val 10000" name="adj"/>
              </a:avLst>
            </a:prstGeom>
            <a:solidFill>
              <a:srgbClr val="BCC5E4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0" y="3522730"/>
              <a:ext cx="6781017" cy="1067494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D7FC9"/>
                </a:gs>
                <a:gs pos="50000">
                  <a:srgbClr val="3A6EC9"/>
                </a:gs>
                <a:gs pos="100000">
                  <a:srgbClr val="2C5EB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2"/>
            <p:cNvSpPr txBox="1"/>
            <p:nvPr/>
          </p:nvSpPr>
          <p:spPr>
            <a:xfrm>
              <a:off x="1462952" y="3522730"/>
              <a:ext cx="5318064" cy="10674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lang="es-CL" sz="2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Rodrigo Riquelme</a:t>
              </a:r>
              <a:endParaRPr b="0" i="0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DBA</a:t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b="0" i="0" lang="es-CL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desempeñadas</a:t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106749" y="3629480"/>
              <a:ext cx="1356203" cy="853995"/>
            </a:xfrm>
            <a:prstGeom prst="roundRect">
              <a:avLst>
                <a:gd fmla="val 10000" name="adj"/>
              </a:avLst>
            </a:prstGeom>
            <a:solidFill>
              <a:srgbClr val="BCC5E4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/>
          <p:nvPr>
            <p:ph type="title"/>
          </p:nvPr>
        </p:nvSpPr>
        <p:spPr>
          <a:xfrm>
            <a:off x="725659" y="1110713"/>
            <a:ext cx="10515600" cy="718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Descripción del Proyecto</a:t>
            </a:r>
            <a:endParaRPr/>
          </a:p>
        </p:txBody>
      </p:sp>
      <p:sp>
        <p:nvSpPr>
          <p:cNvPr id="109" name="Google Shape;109;p3"/>
          <p:cNvSpPr/>
          <p:nvPr/>
        </p:nvSpPr>
        <p:spPr>
          <a:xfrm>
            <a:off x="714909" y="2169769"/>
            <a:ext cx="4427360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Problemática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PyMEs y empresas emergentes en Chile carecen de soluciones digitales accesibles y de bajo costo para gestionar sus operaciones. Los sistemas ERP existentes son costosos, complejos o no se adaptan a sus necesidades específicas, lo que limita su crecimiento y competitividad.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6912079" y="2177325"/>
            <a:ext cx="4641292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MORI es un sistema de gestión y administración Open Source, diseñado para PyMEs y startups. Ofrece módulos de control de asistencia, gestión documental, pagos y administración de clientes, con una arquitectura adaptable y responsive para facilitar la digitalización de pequeñas empresas.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26415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/>
          <p:nvPr/>
        </p:nvSpPr>
        <p:spPr>
          <a:xfrm>
            <a:off x="614515" y="2040571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Diseñar y desarrollar MORI como una plataforma base completamente funcional y de código abierto, que permita a empresas emergentes, startups y PyMEs con recursos limitados acelerar la creación de soluciones digitales, eliminando la necesidad de comenzar desde cero en cada proyecto.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614514" y="4732407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Desarrollo web / Infraestructura / Seguridad / Personalización / Documentación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 txBox="1"/>
          <p:nvPr/>
        </p:nvSpPr>
        <p:spPr>
          <a:xfrm>
            <a:off x="152400" y="1197198"/>
            <a:ext cx="11938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 txBox="1"/>
          <p:nvPr/>
        </p:nvSpPr>
        <p:spPr>
          <a:xfrm>
            <a:off x="152400" y="4009875"/>
            <a:ext cx="11938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"/>
          <p:cNvSpPr txBox="1"/>
          <p:nvPr>
            <p:ph type="title"/>
          </p:nvPr>
        </p:nvSpPr>
        <p:spPr>
          <a:xfrm>
            <a:off x="810065" y="809447"/>
            <a:ext cx="10515600" cy="750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Alcances</a:t>
            </a:r>
            <a:endParaRPr/>
          </a:p>
        </p:txBody>
      </p:sp>
      <p:sp>
        <p:nvSpPr>
          <p:cNvPr id="125" name="Google Shape;125;p5"/>
          <p:cNvSpPr txBox="1"/>
          <p:nvPr/>
        </p:nvSpPr>
        <p:spPr>
          <a:xfrm>
            <a:off x="342475" y="1777650"/>
            <a:ext cx="6648000" cy="3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Qué hace el Sistema:</a:t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Login/Registro con autenticación segura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 de roles (Admin, Supervisor, Empleado)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de asistencia con validación facial y GPS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Cálculo automático de distancia domicilio-oficina para bonos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Generación de nómina mensual y exportación a PDF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documental con trazabilidad de lectura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Dashboard administrativo con indicadores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 de pagos ajustable a diferentes modelos de negocio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CRUD adaptable para gestión de clientes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Módulo de solicitudes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Interfaz responsive (PC, tablets, móviles)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 txBox="1"/>
          <p:nvPr/>
        </p:nvSpPr>
        <p:spPr>
          <a:xfrm>
            <a:off x="6990475" y="1777650"/>
            <a:ext cx="4751100" cy="26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Qué NO hace:</a:t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integra con ERPs externos como SAP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incluye módulo de reclutamiento en esta versión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realiza integración con pasarelas de pago externas (Mercado Pago/Webpay) en versión inicial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genera modelos predictivos de asistencia o rotación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"/>
          <p:cNvSpPr txBox="1"/>
          <p:nvPr>
            <p:ph type="title"/>
          </p:nvPr>
        </p:nvSpPr>
        <p:spPr>
          <a:xfrm>
            <a:off x="841416" y="1054442"/>
            <a:ext cx="10515600" cy="752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Usuarios</a:t>
            </a: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839487" y="1923143"/>
            <a:ext cx="10365542" cy="433251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2000">
                <a:solidFill>
                  <a:schemeClr val="dk1"/>
                </a:solidFill>
              </a:rPr>
              <a:t>Administrador Global:</a:t>
            </a:r>
            <a:r>
              <a:rPr lang="es-CL" sz="2000">
                <a:solidFill>
                  <a:schemeClr val="dk1"/>
                </a:solidFill>
              </a:rPr>
              <a:t>	Control total del sistema, configuración de empresas, usuarios y parámetros globales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2000">
                <a:solidFill>
                  <a:schemeClr val="dk1"/>
                </a:solidFill>
              </a:rPr>
              <a:t>Administrador de Empresa:</a:t>
            </a:r>
            <a:r>
              <a:rPr lang="es-CL" sz="2000">
                <a:solidFill>
                  <a:schemeClr val="dk1"/>
                </a:solidFill>
              </a:rPr>
              <a:t>	Gestiona su propia empresa, departamentos, empleados y configuración interna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2000">
                <a:solidFill>
                  <a:schemeClr val="dk1"/>
                </a:solidFill>
              </a:rPr>
              <a:t>Supervisor:</a:t>
            </a:r>
            <a:r>
              <a:rPr lang="es-CL" sz="2000">
                <a:solidFill>
                  <a:schemeClr val="dk1"/>
                </a:solidFill>
              </a:rPr>
              <a:t>	Visualiza reportes, aprueba solicitudes, gestiona equipos de trabajo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2000">
                <a:solidFill>
                  <a:schemeClr val="dk1"/>
                </a:solidFill>
              </a:rPr>
              <a:t>Empleado:</a:t>
            </a:r>
            <a:r>
              <a:rPr lang="es-CL" sz="2000">
                <a:solidFill>
                  <a:schemeClr val="dk1"/>
                </a:solidFill>
              </a:rPr>
              <a:t>	Marca asistencia, visualiza nóminas, solicita permisos, gestiona perfil</a:t>
            </a:r>
            <a:endParaRPr sz="2000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/>
          <p:nvPr>
            <p:ph type="title"/>
          </p:nvPr>
        </p:nvSpPr>
        <p:spPr>
          <a:xfrm>
            <a:off x="638991" y="900467"/>
            <a:ext cx="10515600" cy="7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Lista de Requerimientos funcionales</a:t>
            </a:r>
            <a:endParaRPr/>
          </a:p>
        </p:txBody>
      </p:sp>
      <p:graphicFrame>
        <p:nvGraphicFramePr>
          <p:cNvPr id="138" name="Google Shape;138;p7"/>
          <p:cNvGraphicFramePr/>
          <p:nvPr/>
        </p:nvGraphicFramePr>
        <p:xfrm>
          <a:off x="495300" y="2007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{1A2B4E79-9257-44C7-BDB5-FC017AA9E69C}</a:tableStyleId>
              </a:tblPr>
              <a:tblGrid>
                <a:gridCol w="2228850"/>
              </a:tblGrid>
              <a:tr h="440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Login con código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CC5E4"/>
                    </a:solidFill>
                  </a:tcPr>
                </a:tc>
              </a:tr>
              <a:tr h="440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Validación facial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0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Registro de geolocalización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CC5E4"/>
                    </a:solidFill>
                  </a:tcPr>
                </a:tc>
              </a:tr>
              <a:tr h="440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Roles de usuario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0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Código de ingreso temporal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CC5E4"/>
                    </a:solidFill>
                  </a:tcPr>
                </a:tc>
              </a:tr>
              <a:tr h="440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Gestión de empresas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0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Estructura de empresa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CC5E4"/>
                    </a:solidFill>
                  </a:tcPr>
                </a:tc>
              </a:tr>
              <a:tr h="440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Asignación de múltiples roles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0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Importación masiva de usuarios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CC5E4"/>
                    </a:solidFill>
                  </a:tcPr>
                </a:tc>
              </a:tr>
              <a:tr h="440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Marcación de entrada/salida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9" name="Google Shape;139;p7"/>
          <p:cNvGraphicFramePr/>
          <p:nvPr/>
        </p:nvGraphicFramePr>
        <p:xfrm>
          <a:off x="3084900" y="2007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{1A2B4E79-9257-44C7-BDB5-FC017AA9E69C}</a:tableStyleId>
              </a:tblPr>
              <a:tblGrid>
                <a:gridCol w="2484850"/>
              </a:tblGrid>
              <a:tr h="440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Validación de geocerca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CC5E4"/>
                    </a:solidFill>
                  </a:tcPr>
                </a:tc>
              </a:tr>
              <a:tr h="440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Registro fuera de zona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0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Mapa de ingresos en tiempo real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CC5E4"/>
                    </a:solidFill>
                  </a:tcPr>
                </a:tc>
              </a:tr>
              <a:tr h="440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Registro de domicilio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0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Cálculo de distancia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CC5E4"/>
                    </a:solidFill>
                  </a:tcPr>
                </a:tc>
              </a:tr>
              <a:tr h="440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Rangos de distancia para bonos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0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Cálculo de bono por lejanía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CC5E4"/>
                    </a:solidFill>
                  </a:tcPr>
                </a:tc>
              </a:tr>
              <a:tr h="440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Subida de documentos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0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Trazabilidad de lectura de PDF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CC5E4"/>
                    </a:solidFill>
                  </a:tcPr>
                </a:tc>
              </a:tr>
              <a:tr h="440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Firma digital de documentos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0" name="Google Shape;140;p7"/>
          <p:cNvGraphicFramePr/>
          <p:nvPr/>
        </p:nvGraphicFramePr>
        <p:xfrm>
          <a:off x="5936463" y="2007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{1A2B4E79-9257-44C7-BDB5-FC017AA9E69C}</a:tableStyleId>
              </a:tblPr>
              <a:tblGrid>
                <a:gridCol w="2728925"/>
              </a:tblGrid>
              <a:tr h="440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Bandeja de documentos pendientes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CC5E4"/>
                    </a:solidFill>
                  </a:tcPr>
                </a:tc>
              </a:tr>
              <a:tr h="440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Generación de nómina mensual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0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Exportación de nómina a PDF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CC5E4"/>
                    </a:solidFill>
                  </a:tcPr>
                </a:tc>
              </a:tr>
              <a:tr h="440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Visualización de recibo de pago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0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Solicitud de pagos extra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CC5E4"/>
                    </a:solidFill>
                  </a:tcPr>
                </a:tc>
              </a:tr>
              <a:tr h="440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Definición de horarios base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0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Cálculo de horas efectivas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CC5E4"/>
                    </a:solidFill>
                  </a:tcPr>
                </a:tc>
              </a:tr>
              <a:tr h="440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Métrica de rendimiento semanal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0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Asignación de tareas pendientes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CC5E4"/>
                    </a:solidFill>
                  </a:tcPr>
                </a:tc>
              </a:tr>
              <a:tr h="440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Inicio de viaje en app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1" name="Google Shape;141;p7"/>
          <p:cNvGraphicFramePr/>
          <p:nvPr/>
        </p:nvGraphicFramePr>
        <p:xfrm>
          <a:off x="9032100" y="2007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{1A2B4E79-9257-44C7-BDB5-FC017AA9E69C}</a:tableStyleId>
              </a:tblPr>
              <a:tblGrid>
                <a:gridCol w="2228850"/>
              </a:tblGrid>
              <a:tr h="440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Registro de viaje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CC5E4"/>
                    </a:solidFill>
                  </a:tcPr>
                </a:tc>
              </a:tr>
              <a:tr h="440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Reporte de tiempos de viaje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0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Centro de ayuda (FAQ)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CC5E4"/>
                    </a:solidFill>
                  </a:tcPr>
                </a:tc>
              </a:tr>
              <a:tr h="440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Tickets de soporte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0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Respuestas automáticas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CC5E4"/>
                    </a:solidFill>
                  </a:tcPr>
                </a:tc>
              </a:tr>
              <a:tr h="440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Funciones de app móvil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0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Acceso a cámara en app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CC5E4"/>
                    </a:solidFill>
                  </a:tcPr>
                </a:tc>
              </a:tr>
              <a:tr h="440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Registro periódico de GPS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0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Notificaciones push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CC5E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a47f9f203_4_0"/>
          <p:cNvSpPr txBox="1"/>
          <p:nvPr>
            <p:ph type="title"/>
          </p:nvPr>
        </p:nvSpPr>
        <p:spPr>
          <a:xfrm>
            <a:off x="620700" y="829100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Lista de Requerimientos - No funcionales</a:t>
            </a:r>
            <a:endParaRPr/>
          </a:p>
        </p:txBody>
      </p:sp>
      <p:graphicFrame>
        <p:nvGraphicFramePr>
          <p:cNvPr id="147" name="Google Shape;147;g3fa47f9f203_4_0"/>
          <p:cNvGraphicFramePr/>
          <p:nvPr/>
        </p:nvGraphicFramePr>
        <p:xfrm>
          <a:off x="2734250" y="2801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{1A2B4E79-9257-44C7-BDB5-FC017AA9E69C}</a:tableStyleId>
              </a:tblPr>
              <a:tblGrid>
                <a:gridCol w="2228850"/>
              </a:tblGrid>
              <a:tr h="447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Arquitectura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CC5E4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Escalabilidad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Seguridad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CC5E4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Privacidad GPS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Corroboración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CC5E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8" name="Google Shape;148;g3fa47f9f203_4_0"/>
          <p:cNvGraphicFramePr/>
          <p:nvPr/>
        </p:nvGraphicFramePr>
        <p:xfrm>
          <a:off x="6410325" y="2801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{1A2B4E79-9257-44C7-BDB5-FC017AA9E69C}</a:tableStyleId>
              </a:tblPr>
              <a:tblGrid>
                <a:gridCol w="2228850"/>
              </a:tblGrid>
              <a:tr h="447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Rendimiento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CC5E4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Logs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 Source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CC5E4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Documentación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Backup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CC5E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"/>
          <p:cNvSpPr txBox="1"/>
          <p:nvPr>
            <p:ph type="title"/>
          </p:nvPr>
        </p:nvSpPr>
        <p:spPr>
          <a:xfrm>
            <a:off x="291052" y="805861"/>
            <a:ext cx="105156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Mockups del Sistema</a:t>
            </a:r>
            <a:endParaRPr/>
          </a:p>
        </p:txBody>
      </p:sp>
      <p:sp>
        <p:nvSpPr>
          <p:cNvPr id="154" name="Google Shape;154;p8"/>
          <p:cNvSpPr txBox="1"/>
          <p:nvPr/>
        </p:nvSpPr>
        <p:spPr>
          <a:xfrm>
            <a:off x="757367" y="1848356"/>
            <a:ext cx="9990462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5" name="Google Shape;15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050" y="1326650"/>
            <a:ext cx="5734050" cy="282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27250" y="3369200"/>
            <a:ext cx="5734050" cy="280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"/>
          <p:cNvSpPr txBox="1"/>
          <p:nvPr>
            <p:ph type="title"/>
          </p:nvPr>
        </p:nvSpPr>
        <p:spPr>
          <a:xfrm>
            <a:off x="364027" y="922611"/>
            <a:ext cx="105156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Mockups del Sistema</a:t>
            </a:r>
            <a:endParaRPr/>
          </a:p>
        </p:txBody>
      </p:sp>
      <p:sp>
        <p:nvSpPr>
          <p:cNvPr id="162" name="Google Shape;162;p9"/>
          <p:cNvSpPr txBox="1"/>
          <p:nvPr/>
        </p:nvSpPr>
        <p:spPr>
          <a:xfrm>
            <a:off x="757367" y="1848356"/>
            <a:ext cx="9990462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3" name="Google Shape;163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350" y="1713675"/>
            <a:ext cx="5734050" cy="281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83025" y="3500350"/>
            <a:ext cx="5734050" cy="280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"/>
          <p:cNvSpPr txBox="1"/>
          <p:nvPr>
            <p:ph type="title"/>
          </p:nvPr>
        </p:nvSpPr>
        <p:spPr>
          <a:xfrm>
            <a:off x="641252" y="1068511"/>
            <a:ext cx="10515600" cy="644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Hitos Importantes </a:t>
            </a:r>
            <a:endParaRPr/>
          </a:p>
        </p:txBody>
      </p:sp>
      <p:graphicFrame>
        <p:nvGraphicFramePr>
          <p:cNvPr id="170" name="Google Shape;170;p10"/>
          <p:cNvGraphicFramePr/>
          <p:nvPr/>
        </p:nvGraphicFramePr>
        <p:xfrm>
          <a:off x="778559" y="192156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{AD50B0CC-083F-4C02-85E5-948365EB69EC}</a:tableStyleId>
              </a:tblPr>
              <a:tblGrid>
                <a:gridCol w="4664775"/>
                <a:gridCol w="6244225"/>
              </a:tblGrid>
              <a:tr h="574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s-CL" sz="2200" u="none" cap="none" strike="noStrike">
                          <a:solidFill>
                            <a:schemeClr val="dk1"/>
                          </a:solidFill>
                        </a:rPr>
                        <a:t>Nombre Fase</a:t>
                      </a:r>
                      <a:endParaRPr b="1" sz="2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BCC5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s-CL" sz="2200" u="none" cap="none" strike="noStrike">
                          <a:solidFill>
                            <a:schemeClr val="dk1"/>
                          </a:solidFill>
                        </a:rPr>
                        <a:t>Fechas</a:t>
                      </a:r>
                      <a:endParaRPr b="1" sz="2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BCC5E4"/>
                    </a:solidFill>
                  </a:tcPr>
                </a:tc>
              </a:tr>
              <a:tr h="574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CL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Inicio del Proyecto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30 de julio de 2026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</a:tr>
              <a:tr h="56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CL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Entrega Fase 1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07 de septiembre de 2026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</a:tr>
              <a:tr h="574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CL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Entrega Fase 2 (Primera Parte)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30 de septiembre de 2026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</a:tr>
              <a:tr h="401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CL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Lanzamiento Versión Alpha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10 de octubre de 2026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</a:tr>
              <a:tr h="574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CL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Entrega Fase 2 (Segunda Parte)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09 de noviembre de 2026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</a:tr>
              <a:tr h="574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Entrega Final / Término del Proyecto</a:t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01 al 05 de diciembre de 2026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</a:tr>
            </a:tbl>
          </a:graphicData>
        </a:graphic>
      </p:graphicFrame>
      <p:sp>
        <p:nvSpPr>
          <p:cNvPr id="171" name="Google Shape;171;p10"/>
          <p:cNvSpPr txBox="1"/>
          <p:nvPr/>
        </p:nvSpPr>
        <p:spPr>
          <a:xfrm>
            <a:off x="6901800" y="5962475"/>
            <a:ext cx="48813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Todas las fechas son un aproximado y no son referentes a las fechas finales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1"/>
          <p:cNvSpPr txBox="1"/>
          <p:nvPr>
            <p:ph type="title"/>
          </p:nvPr>
        </p:nvSpPr>
        <p:spPr>
          <a:xfrm>
            <a:off x="365600" y="1163550"/>
            <a:ext cx="11404800" cy="99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Costos por Fase                    -          Costos Horas Hombre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                                                                         por Rol </a:t>
            </a:r>
            <a:endParaRPr/>
          </a:p>
        </p:txBody>
      </p:sp>
      <p:pic>
        <p:nvPicPr>
          <p:cNvPr id="177" name="Google Shape;177;p11"/>
          <p:cNvPicPr preferRelativeResize="0"/>
          <p:nvPr/>
        </p:nvPicPr>
        <p:blipFill rotWithShape="1">
          <a:blip r:embed="rId3">
            <a:alphaModFix/>
          </a:blip>
          <a:srcRect b="0" l="0" r="0" t="17675"/>
          <a:stretch/>
        </p:blipFill>
        <p:spPr>
          <a:xfrm>
            <a:off x="196725" y="2555975"/>
            <a:ext cx="5339625" cy="24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1"/>
          <p:cNvPicPr preferRelativeResize="0"/>
          <p:nvPr/>
        </p:nvPicPr>
        <p:blipFill rotWithShape="1">
          <a:blip r:embed="rId4">
            <a:alphaModFix/>
          </a:blip>
          <a:srcRect b="0" l="0" r="0" t="16562"/>
          <a:stretch/>
        </p:blipFill>
        <p:spPr>
          <a:xfrm>
            <a:off x="6178875" y="2555976"/>
            <a:ext cx="5644750" cy="242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2"/>
          <p:cNvSpPr txBox="1"/>
          <p:nvPr>
            <p:ph type="title"/>
          </p:nvPr>
        </p:nvSpPr>
        <p:spPr>
          <a:xfrm>
            <a:off x="641252" y="1068511"/>
            <a:ext cx="10515600" cy="644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Tecnologías del Desarrollo</a:t>
            </a:r>
            <a:endParaRPr/>
          </a:p>
        </p:txBody>
      </p:sp>
      <p:sp>
        <p:nvSpPr>
          <p:cNvPr id="184" name="Google Shape;184;p12"/>
          <p:cNvSpPr txBox="1"/>
          <p:nvPr/>
        </p:nvSpPr>
        <p:spPr>
          <a:xfrm>
            <a:off x="665402" y="2269641"/>
            <a:ext cx="108612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Frontend: HTML5, CSS3, JavaScript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➢"/>
            </a:pPr>
            <a:r>
              <a:rPr lang="es-CL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Backend/BD: Supabase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➢"/>
            </a:pPr>
            <a:r>
              <a:rPr lang="es-CL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Seguridad: HTTPS, RLS, autenticación integrada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➢"/>
            </a:pPr>
            <a:r>
              <a:rPr lang="es-CL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APIs Externas: Google Maps, WebRTC, Geolocation API (referencia)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➢"/>
            </a:pPr>
            <a:r>
              <a:rPr lang="es-CL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Notificaciones: Supabase Realtime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➢"/>
            </a:pPr>
            <a:r>
              <a:rPr lang="es-CL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Versiones: Git / GitHub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3"/>
          <p:cNvSpPr txBox="1"/>
          <p:nvPr/>
        </p:nvSpPr>
        <p:spPr>
          <a:xfrm>
            <a:off x="609558" y="699121"/>
            <a:ext cx="10515600" cy="1053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Conclusión  </a:t>
            </a:r>
            <a:endParaRPr/>
          </a:p>
        </p:txBody>
      </p:sp>
      <p:sp>
        <p:nvSpPr>
          <p:cNvPr id="190" name="Google Shape;190;p13"/>
          <p:cNvSpPr/>
          <p:nvPr/>
        </p:nvSpPr>
        <p:spPr>
          <a:xfrm>
            <a:off x="839487" y="1923143"/>
            <a:ext cx="10365542" cy="433251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proyecto MORI representa una solución integral y accesible para la digitalización de PyMEs y empresas emergentes, abordando las principales necesidades de gestión interna con estándares de calidad, seguridad y usabilidad.</a:t>
            </a:r>
            <a:br>
              <a:rPr lang="es-CL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s-CL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CL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Principales aportes: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➢"/>
            </a:pPr>
            <a:r>
              <a:rPr lang="es-CL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Democratización del acceso a herramientas digitales para pequeñas empresas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➢"/>
            </a:pPr>
            <a:r>
              <a:rPr lang="es-CL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Reducción de costos de implementación mediante código abierto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➢"/>
            </a:pPr>
            <a:r>
              <a:rPr lang="es-CL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escalable y </a:t>
            </a:r>
            <a:r>
              <a:rPr lang="es-CL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s-CL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daptable a diferentes rubros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➢"/>
            </a:pPr>
            <a:r>
              <a:rPr lang="es-CL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Integración de tecnologías modernas (React, Flutter, Node.js, PostgreSQL)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➢"/>
            </a:pPr>
            <a:r>
              <a:rPr lang="es-CL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Cumplimiento de estándares IEEE 830, ISO 9000 y PMI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2015-07-01T15:45:01Z</dcterms:created>
  <dc:creator>Sala_</dc:creator>
</cp:coreProperties>
</file>